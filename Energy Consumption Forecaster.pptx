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9" r:id="rId7"/>
    <p:sldId id="262" r:id="rId8"/>
    <p:sldId id="270" r:id="rId9"/>
    <p:sldId id="263" r:id="rId10"/>
    <p:sldId id="25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541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monZok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Energy Consumption Forecaster </a:t>
            </a:r>
            <a:r>
              <a:rPr lang="en-US" dirty="0" smtClean="0"/>
              <a:t>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mk-MK" dirty="0"/>
              <a:t>Завршен проект (</a:t>
            </a:r>
            <a:r>
              <a:rPr lang="en-US" dirty="0"/>
              <a:t>Capstone) | </a:t>
            </a:r>
            <a:r>
              <a:rPr lang="en-US" dirty="0" err="1"/>
              <a:t>Avenga</a:t>
            </a:r>
            <a:r>
              <a:rPr lang="en-US" dirty="0"/>
              <a:t> Academy </a:t>
            </a:r>
            <a:endParaRPr lang="en-US" dirty="0" smtClean="0"/>
          </a:p>
          <a:p>
            <a:r>
              <a:rPr lang="mk-MK" dirty="0" smtClean="0"/>
              <a:t>Изработил</a:t>
            </a:r>
            <a:r>
              <a:rPr lang="mk-MK" dirty="0" smtClean="0"/>
              <a:t>: Симон </a:t>
            </a:r>
            <a:r>
              <a:rPr lang="mk-MK" dirty="0" smtClean="0"/>
              <a:t>З.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24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</a:t>
            </a:r>
            <a:r>
              <a:rPr lang="ru-RU" dirty="0" smtClean="0"/>
              <a:t>Вовед </a:t>
            </a:r>
            <a:r>
              <a:rPr lang="ru-RU" dirty="0"/>
              <a:t>и дефиниција на проблемот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ru-RU" b="1" dirty="0"/>
              <a:t>Цел на проектот:</a:t>
            </a:r>
            <a:r>
              <a:rPr lang="ru-RU" dirty="0"/>
              <a:t> Предвидување на потрошувачката на електрична енергија кај паметни домови за 24 часа однапред. 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b="1" dirty="0"/>
              <a:t>Зошто е важно?:</a:t>
            </a:r>
            <a:r>
              <a:rPr lang="ru-RU" dirty="0"/>
              <a:t> Помага во оптимално управување со енергетската мрежа (Grid Management) и автоматизација на уредите. 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b="1" dirty="0"/>
              <a:t>Предизвик:</a:t>
            </a:r>
            <a:r>
              <a:rPr lang="ru-RU" dirty="0"/>
              <a:t> Висока непредвидливост во потрошувачката на поединечните домаќинства, каде пиковите се менуваат нагло.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6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ru-RU" dirty="0"/>
              <a:t>Преглед на податоци &amp; ЕDA (Dataset &amp; EDA)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ru-RU" b="1" dirty="0"/>
              <a:t>Преглед:</a:t>
            </a:r>
            <a:r>
              <a:rPr lang="ru-RU" dirty="0"/>
              <a:t> Анализа на историски податоци за потрошувачка на електрична енергија на ниво на час за едно домаќинство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b="1" dirty="0"/>
              <a:t>Главно EDA откритие:</a:t>
            </a:r>
            <a:r>
              <a:rPr lang="ru-RU" dirty="0"/>
              <a:t> Силна временска зависност каде потрошувачката строго го следи дневниот и неделниот циклус на корисникот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Feature Engineering:</a:t>
            </a:r>
            <a:r>
              <a:rPr lang="ru-RU" dirty="0"/>
              <a:t> Креирање на историски lags и синус/косинус трансформации за математичко мапирање на тие циклуси.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6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846" y="624110"/>
            <a:ext cx="9399766" cy="1280890"/>
          </a:xfrm>
        </p:spPr>
        <p:txBody>
          <a:bodyPr/>
          <a:lstStyle/>
          <a:p>
            <a:r>
              <a:rPr lang="en-US" dirty="0" smtClean="0"/>
              <a:t>3</a:t>
            </a:r>
            <a:r>
              <a:rPr lang="en-US" dirty="0" smtClean="0"/>
              <a:t>.</a:t>
            </a:r>
            <a:r>
              <a:rPr lang="ru-RU" dirty="0"/>
              <a:t> </a:t>
            </a:r>
            <a:r>
              <a:rPr lang="ru-RU" dirty="0" smtClean="0"/>
              <a:t>Архитектура </a:t>
            </a:r>
            <a:r>
              <a:rPr lang="ru-RU" dirty="0"/>
              <a:t>на модел и избор на алтернативи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en-US" b="1" dirty="0" err="1" smtClean="0"/>
              <a:t>Тестирани</a:t>
            </a:r>
            <a:r>
              <a:rPr lang="en-US" b="1" dirty="0" smtClean="0"/>
              <a:t> </a:t>
            </a:r>
            <a:r>
              <a:rPr lang="en-US" b="1" dirty="0" err="1"/>
              <a:t>алгоритми</a:t>
            </a:r>
            <a:r>
              <a:rPr lang="en-US" b="1" dirty="0"/>
              <a:t>:</a:t>
            </a:r>
            <a:r>
              <a:rPr lang="en-US" dirty="0"/>
              <a:t> Random Forest и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mk-MK" dirty="0"/>
              <a:t>Регресори</a:t>
            </a:r>
            <a:r>
              <a:rPr lang="mk-MK" dirty="0" smtClean="0"/>
              <a:t>.</a:t>
            </a:r>
            <a:endParaRPr lang="en-US" dirty="0" smtClean="0"/>
          </a:p>
          <a:p>
            <a:r>
              <a:rPr lang="ru-RU" b="1" dirty="0" smtClean="0"/>
              <a:t>Стабилност</a:t>
            </a:r>
            <a:r>
              <a:rPr lang="ru-RU" dirty="0"/>
              <a:t>: Постигнат е стабилен коефициент на детерминација </a:t>
            </a:r>
            <a:r>
              <a:rPr lang="en-US" dirty="0" smtClean="0"/>
              <a:t>     (</a:t>
            </a:r>
            <a:r>
              <a:rPr lang="en-US" dirty="0"/>
              <a:t>R² ˜ 0.78) </a:t>
            </a:r>
            <a:r>
              <a:rPr lang="ru-RU" dirty="0" smtClean="0"/>
              <a:t>за </a:t>
            </a:r>
            <a:r>
              <a:rPr lang="ru-RU" dirty="0"/>
              <a:t>едночекорен предвидувачки прозорец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mk-MK" b="1" dirty="0"/>
              <a:t>Перформанси на тест сетот:</a:t>
            </a:r>
            <a:endParaRPr lang="mk-MK" dirty="0"/>
          </a:p>
          <a:p>
            <a:pPr lvl="1"/>
            <a:r>
              <a:rPr lang="en-US" dirty="0" smtClean="0"/>
              <a:t>- Random </a:t>
            </a:r>
            <a:r>
              <a:rPr lang="en-US" dirty="0"/>
              <a:t>Forest -&gt; MAE: 0.6974 kW | MSE: 1.0967 kW²</a:t>
            </a:r>
          </a:p>
          <a:p>
            <a:pPr lvl="1"/>
            <a:r>
              <a:rPr lang="en-US" dirty="0" smtClean="0"/>
              <a:t>- </a:t>
            </a:r>
            <a:r>
              <a:rPr lang="en-US" dirty="0" err="1" smtClean="0"/>
              <a:t>XGBoost</a:t>
            </a:r>
            <a:r>
              <a:rPr lang="en-US" dirty="0" smtClean="0"/>
              <a:t> </a:t>
            </a:r>
            <a:r>
              <a:rPr lang="en-US" dirty="0"/>
              <a:t>-&gt; MAE: 0.7011 kW | MSE: 1.1091 kW²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3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8421" y="615484"/>
            <a:ext cx="9031859" cy="1280890"/>
          </a:xfrm>
        </p:spPr>
        <p:txBody>
          <a:bodyPr/>
          <a:lstStyle/>
          <a:p>
            <a:r>
              <a:rPr lang="mk-MK" dirty="0"/>
              <a:t>4. Пристап: Сегмент на </a:t>
            </a:r>
            <a:r>
              <a:rPr lang="en-US" dirty="0"/>
              <a:t>Deep Learning (LSTM)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973" y="2127848"/>
            <a:ext cx="3522817" cy="2993927"/>
          </a:xfrm>
        </p:spPr>
        <p:txBody>
          <a:bodyPr>
            <a:normAutofit/>
          </a:bodyPr>
          <a:lstStyle/>
          <a:p>
            <a:r>
              <a:rPr lang="ru-RU" sz="1400" b="1" dirty="0"/>
              <a:t>Ограничување на ML</a:t>
            </a:r>
            <a:r>
              <a:rPr lang="ru-RU" sz="1400" dirty="0"/>
              <a:t>: </a:t>
            </a:r>
            <a:r>
              <a:rPr lang="ru-RU" sz="1400" dirty="0" smtClean="0"/>
              <a:t>Класичните </a:t>
            </a:r>
            <a:r>
              <a:rPr lang="ru-RU" sz="1400" dirty="0"/>
              <a:t>модели се оптимизирани само за еден чекор однапред </a:t>
            </a:r>
            <a:r>
              <a:rPr lang="ru-RU" sz="1400" dirty="0" smtClean="0"/>
              <a:t>(t+1).</a:t>
            </a:r>
            <a:endParaRPr lang="en-US" sz="1400" dirty="0" smtClean="0"/>
          </a:p>
          <a:p>
            <a:r>
              <a:rPr lang="ru-RU" sz="1400" b="1" dirty="0" smtClean="0"/>
              <a:t>Зошто </a:t>
            </a:r>
            <a:r>
              <a:rPr lang="ru-RU" sz="1400" b="1" dirty="0"/>
              <a:t>LSTM?: </a:t>
            </a:r>
            <a:r>
              <a:rPr lang="ru-RU" sz="1400" dirty="0"/>
              <a:t>Изградена е Sequence-to-Sequence (Seq2Seq) архитектура наменета за повеќечекорно предвидување во иднината (24 часа одеднаш</a:t>
            </a:r>
            <a:r>
              <a:rPr lang="ru-RU" sz="1400" dirty="0" smtClean="0"/>
              <a:t>).</a:t>
            </a:r>
            <a:endParaRPr lang="en-US" sz="14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790" y="1459900"/>
            <a:ext cx="6676587" cy="3624213"/>
          </a:xfrm>
          <a:prstGeom prst="rect">
            <a:avLst/>
          </a:prstGeom>
        </p:spPr>
      </p:pic>
      <p:sp>
        <p:nvSpPr>
          <p:cNvPr id="7" name="Text Placeholder 2"/>
          <p:cNvSpPr txBox="1">
            <a:spLocks/>
          </p:cNvSpPr>
          <p:nvPr/>
        </p:nvSpPr>
        <p:spPr>
          <a:xfrm>
            <a:off x="3612691" y="5364194"/>
            <a:ext cx="8333116" cy="99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500" b="1" dirty="0" smtClean="0"/>
              <a:t>Брза </a:t>
            </a:r>
            <a:r>
              <a:rPr lang="ru-RU" sz="1500" b="1" dirty="0"/>
              <a:t>конвергенција</a:t>
            </a:r>
            <a:r>
              <a:rPr lang="ru-RU" sz="1500" dirty="0"/>
              <a:t>:  Моделот стабилно учи уште во првите неколку епохи.</a:t>
            </a:r>
          </a:p>
          <a:p>
            <a:r>
              <a:rPr lang="ru-RU" sz="1500" b="1" dirty="0" smtClean="0"/>
              <a:t>Идеална </a:t>
            </a:r>
            <a:r>
              <a:rPr lang="ru-RU" sz="1500" b="1" dirty="0"/>
              <a:t>генерализација</a:t>
            </a:r>
            <a:r>
              <a:rPr lang="ru-RU" sz="1500" dirty="0"/>
              <a:t>:  Тренинг и валидациската загуба паѓаат паралелно (доказ дека нема overfitting</a:t>
            </a:r>
            <a:r>
              <a:rPr lang="ru-RU" sz="1500" dirty="0" smtClean="0"/>
              <a:t>).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31340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5283" y="301924"/>
            <a:ext cx="9770702" cy="1266645"/>
          </a:xfrm>
        </p:spPr>
        <p:txBody>
          <a:bodyPr/>
          <a:lstStyle/>
          <a:p>
            <a:r>
              <a:rPr lang="en-US" dirty="0" smtClean="0"/>
              <a:t>5</a:t>
            </a:r>
            <a:r>
              <a:rPr lang="mk-MK" dirty="0"/>
              <a:t>. Резултати од </a:t>
            </a:r>
            <a:r>
              <a:rPr lang="en-US" dirty="0"/>
              <a:t>Deep Learning (LSTM)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3624" y="5178725"/>
            <a:ext cx="8542307" cy="1575758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Перформанси на тест сет</a:t>
            </a:r>
            <a:r>
              <a:rPr lang="ru-RU" dirty="0"/>
              <a:t>: Постигнато MAE од 0.7077 kW и MSE од 1.1118 </a:t>
            </a:r>
            <a:r>
              <a:rPr lang="ru-RU" dirty="0" smtClean="0"/>
              <a:t>kW^2.</a:t>
            </a:r>
            <a:endParaRPr lang="en-US" dirty="0" smtClean="0"/>
          </a:p>
          <a:p>
            <a:r>
              <a:rPr lang="ru-RU" b="1" dirty="0" smtClean="0"/>
              <a:t>Ефект </a:t>
            </a:r>
            <a:r>
              <a:rPr lang="ru-RU" b="1" dirty="0"/>
              <a:t>на израмнување</a:t>
            </a:r>
            <a:r>
              <a:rPr lang="ru-RU" dirty="0"/>
              <a:t>: </a:t>
            </a:r>
            <a:r>
              <a:rPr lang="ru-RU" dirty="0" smtClean="0"/>
              <a:t>Мрежата </a:t>
            </a:r>
            <a:r>
              <a:rPr lang="ru-RU" dirty="0"/>
              <a:t>предвидува ублажена, просечна крива поради хаотичното однесување на поединецот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 smtClean="0"/>
              <a:t>Групна </a:t>
            </a:r>
            <a:r>
              <a:rPr lang="ru-RU" b="1" dirty="0"/>
              <a:t>агрегација</a:t>
            </a:r>
            <a:r>
              <a:rPr lang="ru-RU" dirty="0"/>
              <a:t>: За прецизно пресретнување на пиковите потребна е агрегација на повеќе домаќинства.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507" y="1072299"/>
            <a:ext cx="7910424" cy="392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3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mk-MK" dirty="0"/>
              <a:t>Истражувачка насока: Продукциско распоредување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1" y="2470031"/>
            <a:ext cx="8915400" cy="3886200"/>
          </a:xfrm>
        </p:spPr>
        <p:txBody>
          <a:bodyPr/>
          <a:lstStyle/>
          <a:p>
            <a:r>
              <a:rPr lang="ru-RU" b="1" dirty="0"/>
              <a:t>Од Notebook до Продукција:</a:t>
            </a:r>
            <a:r>
              <a:rPr lang="ru-RU" dirty="0"/>
              <a:t> Апликацијата е префрлена во FastAPI веб сервис, целосно изолиран и пакуван со Docker за лесно стартување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 smtClean="0"/>
              <a:t>Процесирање </a:t>
            </a:r>
            <a:r>
              <a:rPr lang="ru-RU" b="1" dirty="0"/>
              <a:t>во реално време:</a:t>
            </a:r>
            <a:r>
              <a:rPr lang="ru-RU" dirty="0"/>
              <a:t> Системот на секој час прима нови податоци, ги пресметува потребните rolling windows и веднаш враќа 24-часовна JSON прогноза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Предизвик - Справување </a:t>
            </a:r>
            <a:r>
              <a:rPr lang="ru-RU" b="1" dirty="0"/>
              <a:t>со Data </a:t>
            </a:r>
            <a:r>
              <a:rPr lang="ru-RU" b="1" dirty="0" smtClean="0"/>
              <a:t>Drift:</a:t>
            </a:r>
            <a:r>
              <a:rPr lang="ru-RU" dirty="0" smtClean="0"/>
              <a:t> </a:t>
            </a:r>
            <a:r>
              <a:rPr lang="ru-RU" dirty="0"/>
              <a:t>Со текот на времето забележавме пад на точноста во реални услови, што го решивме со воведување механизам за автоматско неделно дотренирање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2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 smtClean="0"/>
              <a:t>7</a:t>
            </a:r>
            <a:r>
              <a:rPr lang="en-US" dirty="0" smtClean="0"/>
              <a:t>. </a:t>
            </a:r>
            <a:r>
              <a:rPr lang="ru-RU" dirty="0"/>
              <a:t>Заклучок и значење на бројките (Conclusions)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1" y="2573547"/>
            <a:ext cx="8915400" cy="3886200"/>
          </a:xfrm>
        </p:spPr>
        <p:txBody>
          <a:bodyPr>
            <a:normAutofit/>
          </a:bodyPr>
          <a:lstStyle/>
          <a:p>
            <a:r>
              <a:rPr lang="ru-RU" b="1" dirty="0"/>
              <a:t>Скалабилност:</a:t>
            </a:r>
            <a:r>
              <a:rPr lang="ru-RU" dirty="0"/>
              <a:t> Просечна грешка од ~0.7 kW по дом станува огромен пик/пад од 7 MW на мрежа од 10.000 домаќинства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Економска вредност:</a:t>
            </a:r>
            <a:r>
              <a:rPr lang="ru-RU" dirty="0"/>
              <a:t> Помага во прецизно планирање на капацитетот и спречува преоптоварување на трафостаниците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Финансиски ефект:</a:t>
            </a:r>
            <a:r>
              <a:rPr lang="ru-RU" dirty="0"/>
              <a:t> Ја намалува потребата за купување скапа, итна струја во последен момент</a:t>
            </a:r>
            <a:r>
              <a:rPr lang="ru-RU" dirty="0" smtClean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67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932" y="624110"/>
            <a:ext cx="9632679" cy="1280890"/>
          </a:xfrm>
        </p:spPr>
        <p:txBody>
          <a:bodyPr/>
          <a:lstStyle/>
          <a:p>
            <a:r>
              <a:rPr lang="ru-RU" dirty="0"/>
              <a:t>8: Ограничувања и Идни подобрувања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1" y="2288876"/>
            <a:ext cx="8915400" cy="3886200"/>
          </a:xfrm>
        </p:spPr>
        <p:txBody>
          <a:bodyPr/>
          <a:lstStyle/>
          <a:p>
            <a:r>
              <a:rPr lang="ru-RU" b="1" dirty="0"/>
              <a:t>Ограничување:</a:t>
            </a:r>
            <a:r>
              <a:rPr lang="ru-RU" dirty="0"/>
              <a:t> Моделот ја гледа само историјата на потрошувачка, без надворешен софтверски или временски контекст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Егзогени фактори:</a:t>
            </a:r>
            <a:r>
              <a:rPr lang="ru-RU" dirty="0"/>
              <a:t> Идна интеграција на временска прогноза (температура/влажност) за подобро фаќање на пиковите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Напредни модели:</a:t>
            </a:r>
            <a:r>
              <a:rPr lang="ru-RU" dirty="0"/>
              <a:t> Тестирање на Attention Mechanisms и наменски мрежи како N-BEATS за сезонски трендови.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1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3101" y="4076700"/>
            <a:ext cx="9620250" cy="1504950"/>
          </a:xfrm>
        </p:spPr>
        <p:txBody>
          <a:bodyPr>
            <a:normAutofit/>
          </a:bodyPr>
          <a:lstStyle/>
          <a:p>
            <a:r>
              <a:rPr lang="ru-RU" sz="2200" dirty="0" smtClean="0"/>
              <a:t>Благодарност </a:t>
            </a:r>
            <a:r>
              <a:rPr lang="ru-RU" sz="2200" dirty="0"/>
              <a:t>до сите ментори, предавачи и тимот на </a:t>
            </a:r>
            <a:r>
              <a:rPr lang="ru-RU" sz="2200" b="1" i="1" dirty="0"/>
              <a:t>Avenga Academy</a:t>
            </a:r>
            <a:r>
              <a:rPr lang="ru-RU" sz="2200" dirty="0"/>
              <a:t> за </a:t>
            </a:r>
            <a:r>
              <a:rPr lang="ru-RU" sz="2200" dirty="0" smtClean="0"/>
              <a:t>поддршка</a:t>
            </a:r>
            <a:r>
              <a:rPr lang="mk-MK" sz="2200" dirty="0" smtClean="0"/>
              <a:t>та</a:t>
            </a:r>
            <a:r>
              <a:rPr lang="ru-RU" sz="2200" dirty="0" smtClean="0"/>
              <a:t>, </a:t>
            </a:r>
            <a:r>
              <a:rPr lang="ru-RU" sz="2200" dirty="0"/>
              <a:t>насоките, пренесеното знаење и трпението.</a:t>
            </a:r>
            <a:r>
              <a:rPr lang="ru-RU" sz="2200" dirty="0" smtClean="0"/>
              <a:t> </a:t>
            </a:r>
            <a:r>
              <a:rPr lang="ru-RU" sz="2200" dirty="0"/>
              <a:t/>
            </a:r>
            <a:br>
              <a:rPr lang="ru-RU" sz="2200" dirty="0"/>
            </a:br>
            <a:endParaRPr lang="en-US" sz="22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46463" y="5741255"/>
            <a:ext cx="54184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github.com/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SimonZoks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mk-MK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Repository: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energy-consumption-forecaster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95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2044</TotalTime>
  <Words>576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Unicode MS</vt:lpstr>
      <vt:lpstr>Arial</vt:lpstr>
      <vt:lpstr>Century Gothic</vt:lpstr>
      <vt:lpstr>Wingdings 3</vt:lpstr>
      <vt:lpstr>Wisp</vt:lpstr>
      <vt:lpstr>Energy Consumption Forecaster ⚡</vt:lpstr>
      <vt:lpstr>1.Вовед и дефиниција на проблемот</vt:lpstr>
      <vt:lpstr>2. Преглед на податоци &amp; ЕDA (Dataset &amp; EDA)</vt:lpstr>
      <vt:lpstr>3. Архитектура на модел и избор на алтернативи</vt:lpstr>
      <vt:lpstr>4. Пристап: Сегмент на Deep Learning (LSTM)</vt:lpstr>
      <vt:lpstr>5. Резултати од Deep Learning (LSTM)</vt:lpstr>
      <vt:lpstr>6. Истражувачка насока: Продукциско распоредување</vt:lpstr>
      <vt:lpstr>7. Заклучок и значење на бројките (Conclusions)</vt:lpstr>
      <vt:lpstr>8: Ограничувања и Идни подобрувања</vt:lpstr>
      <vt:lpstr>Благодарност до сите ментори, предавачи и тимот на Avenga Academy за поддршката, насоките, пренесеното знаење и трпението.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Forecaster ⚡</dc:title>
  <dc:creator>Microsoft account</dc:creator>
  <cp:lastModifiedBy>Microsoft account</cp:lastModifiedBy>
  <cp:revision>32</cp:revision>
  <dcterms:created xsi:type="dcterms:W3CDTF">2026-07-09T07:06:47Z</dcterms:created>
  <dcterms:modified xsi:type="dcterms:W3CDTF">2026-07-10T17:57:17Z</dcterms:modified>
</cp:coreProperties>
</file>